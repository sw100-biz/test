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09077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4BE9"/>
    <a:srgbClr val="2D91FF"/>
    <a:srgbClr val="4BA86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3"/>
    <p:restoredTop sz="91387"/>
  </p:normalViewPr>
  <p:slideViewPr>
    <p:cSldViewPr snapToGrid="0">
      <p:cViewPr>
        <p:scale>
          <a:sx n="171" d="100"/>
          <a:sy n="171" d="100"/>
        </p:scale>
        <p:origin x="1656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3464" y="1122363"/>
            <a:ext cx="8180785" cy="2387600"/>
          </a:xfrm>
        </p:spPr>
        <p:txBody>
          <a:bodyPr anchor="b"/>
          <a:lstStyle>
            <a:lvl1pPr algn="ctr">
              <a:defRPr sz="53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3464" y="3602038"/>
            <a:ext cx="8180785" cy="1655762"/>
          </a:xfrm>
        </p:spPr>
        <p:txBody>
          <a:bodyPr/>
          <a:lstStyle>
            <a:lvl1pPr marL="0" indent="0" algn="ctr">
              <a:buNone/>
              <a:defRPr sz="2147"/>
            </a:lvl1pPr>
            <a:lvl2pPr marL="409057" indent="0" algn="ctr">
              <a:buNone/>
              <a:defRPr sz="1789"/>
            </a:lvl2pPr>
            <a:lvl3pPr marL="818114" indent="0" algn="ctr">
              <a:buNone/>
              <a:defRPr sz="1610"/>
            </a:lvl3pPr>
            <a:lvl4pPr marL="1227171" indent="0" algn="ctr">
              <a:buNone/>
              <a:defRPr sz="1432"/>
            </a:lvl4pPr>
            <a:lvl5pPr marL="1636227" indent="0" algn="ctr">
              <a:buNone/>
              <a:defRPr sz="1432"/>
            </a:lvl5pPr>
            <a:lvl6pPr marL="2045284" indent="0" algn="ctr">
              <a:buNone/>
              <a:defRPr sz="1432"/>
            </a:lvl6pPr>
            <a:lvl7pPr marL="2454341" indent="0" algn="ctr">
              <a:buNone/>
              <a:defRPr sz="1432"/>
            </a:lvl7pPr>
            <a:lvl8pPr marL="2863398" indent="0" algn="ctr">
              <a:buNone/>
              <a:defRPr sz="1432"/>
            </a:lvl8pPr>
            <a:lvl9pPr marL="3272455" indent="0" algn="ctr">
              <a:buNone/>
              <a:defRPr sz="143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304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687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24" y="1709739"/>
            <a:ext cx="9407902" cy="2852737"/>
          </a:xfrm>
        </p:spPr>
        <p:txBody>
          <a:bodyPr anchor="b"/>
          <a:lstStyle>
            <a:lvl1pPr>
              <a:defRPr sz="53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4224" y="4589464"/>
            <a:ext cx="9407902" cy="1500187"/>
          </a:xfrm>
        </p:spPr>
        <p:txBody>
          <a:bodyPr/>
          <a:lstStyle>
            <a:lvl1pPr marL="0" indent="0">
              <a:buNone/>
              <a:defRPr sz="2147">
                <a:solidFill>
                  <a:schemeClr val="tx1">
                    <a:tint val="82000"/>
                  </a:schemeClr>
                </a:solidFill>
              </a:defRPr>
            </a:lvl1pPr>
            <a:lvl2pPr marL="409057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2pPr>
            <a:lvl3pPr marL="818114" indent="0">
              <a:buNone/>
              <a:defRPr sz="1610">
                <a:solidFill>
                  <a:schemeClr val="tx1">
                    <a:tint val="82000"/>
                  </a:schemeClr>
                </a:solidFill>
              </a:defRPr>
            </a:lvl3pPr>
            <a:lvl4pPr marL="1227171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4pPr>
            <a:lvl5pPr marL="1636227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5pPr>
            <a:lvl6pPr marL="2045284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6pPr>
            <a:lvl7pPr marL="2454341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7pPr>
            <a:lvl8pPr marL="2863398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8pPr>
            <a:lvl9pPr marL="3272455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73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9905" y="1825625"/>
            <a:ext cx="463577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2030" y="1825625"/>
            <a:ext cx="463577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6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365126"/>
            <a:ext cx="940790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1327" y="1681163"/>
            <a:ext cx="4614473" cy="823912"/>
          </a:xfrm>
        </p:spPr>
        <p:txBody>
          <a:bodyPr anchor="b"/>
          <a:lstStyle>
            <a:lvl1pPr marL="0" indent="0">
              <a:buNone/>
              <a:defRPr sz="2147" b="1"/>
            </a:lvl1pPr>
            <a:lvl2pPr marL="409057" indent="0">
              <a:buNone/>
              <a:defRPr sz="1789" b="1"/>
            </a:lvl2pPr>
            <a:lvl3pPr marL="818114" indent="0">
              <a:buNone/>
              <a:defRPr sz="1610" b="1"/>
            </a:lvl3pPr>
            <a:lvl4pPr marL="1227171" indent="0">
              <a:buNone/>
              <a:defRPr sz="1432" b="1"/>
            </a:lvl4pPr>
            <a:lvl5pPr marL="1636227" indent="0">
              <a:buNone/>
              <a:defRPr sz="1432" b="1"/>
            </a:lvl5pPr>
            <a:lvl6pPr marL="2045284" indent="0">
              <a:buNone/>
              <a:defRPr sz="1432" b="1"/>
            </a:lvl6pPr>
            <a:lvl7pPr marL="2454341" indent="0">
              <a:buNone/>
              <a:defRPr sz="1432" b="1"/>
            </a:lvl7pPr>
            <a:lvl8pPr marL="2863398" indent="0">
              <a:buNone/>
              <a:defRPr sz="1432" b="1"/>
            </a:lvl8pPr>
            <a:lvl9pPr marL="3272455" indent="0">
              <a:buNone/>
              <a:defRPr sz="143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1327" y="2505075"/>
            <a:ext cx="4614473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22030" y="1681163"/>
            <a:ext cx="4637199" cy="823912"/>
          </a:xfrm>
        </p:spPr>
        <p:txBody>
          <a:bodyPr anchor="b"/>
          <a:lstStyle>
            <a:lvl1pPr marL="0" indent="0">
              <a:buNone/>
              <a:defRPr sz="2147" b="1"/>
            </a:lvl1pPr>
            <a:lvl2pPr marL="409057" indent="0">
              <a:buNone/>
              <a:defRPr sz="1789" b="1"/>
            </a:lvl2pPr>
            <a:lvl3pPr marL="818114" indent="0">
              <a:buNone/>
              <a:defRPr sz="1610" b="1"/>
            </a:lvl3pPr>
            <a:lvl4pPr marL="1227171" indent="0">
              <a:buNone/>
              <a:defRPr sz="1432" b="1"/>
            </a:lvl4pPr>
            <a:lvl5pPr marL="1636227" indent="0">
              <a:buNone/>
              <a:defRPr sz="1432" b="1"/>
            </a:lvl5pPr>
            <a:lvl6pPr marL="2045284" indent="0">
              <a:buNone/>
              <a:defRPr sz="1432" b="1"/>
            </a:lvl6pPr>
            <a:lvl7pPr marL="2454341" indent="0">
              <a:buNone/>
              <a:defRPr sz="1432" b="1"/>
            </a:lvl7pPr>
            <a:lvl8pPr marL="2863398" indent="0">
              <a:buNone/>
              <a:defRPr sz="1432" b="1"/>
            </a:lvl8pPr>
            <a:lvl9pPr marL="3272455" indent="0">
              <a:buNone/>
              <a:defRPr sz="143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22030" y="2505075"/>
            <a:ext cx="4637199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036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586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472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457200"/>
            <a:ext cx="3518021" cy="1600200"/>
          </a:xfrm>
        </p:spPr>
        <p:txBody>
          <a:bodyPr anchor="b"/>
          <a:lstStyle>
            <a:lvl1pPr>
              <a:defRPr sz="28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99" y="987426"/>
            <a:ext cx="5522030" cy="4873625"/>
          </a:xfrm>
        </p:spPr>
        <p:txBody>
          <a:bodyPr/>
          <a:lstStyle>
            <a:lvl1pPr>
              <a:defRPr sz="2863"/>
            </a:lvl1pPr>
            <a:lvl2pPr>
              <a:defRPr sz="2505"/>
            </a:lvl2pPr>
            <a:lvl3pPr>
              <a:defRPr sz="2147"/>
            </a:lvl3pPr>
            <a:lvl4pPr>
              <a:defRPr sz="1789"/>
            </a:lvl4pPr>
            <a:lvl5pPr>
              <a:defRPr sz="1789"/>
            </a:lvl5pPr>
            <a:lvl6pPr>
              <a:defRPr sz="1789"/>
            </a:lvl6pPr>
            <a:lvl7pPr>
              <a:defRPr sz="1789"/>
            </a:lvl7pPr>
            <a:lvl8pPr>
              <a:defRPr sz="1789"/>
            </a:lvl8pPr>
            <a:lvl9pPr>
              <a:defRPr sz="178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326" y="2057400"/>
            <a:ext cx="3518021" cy="3811588"/>
          </a:xfrm>
        </p:spPr>
        <p:txBody>
          <a:bodyPr/>
          <a:lstStyle>
            <a:lvl1pPr marL="0" indent="0">
              <a:buNone/>
              <a:defRPr sz="1432"/>
            </a:lvl1pPr>
            <a:lvl2pPr marL="409057" indent="0">
              <a:buNone/>
              <a:defRPr sz="1253"/>
            </a:lvl2pPr>
            <a:lvl3pPr marL="818114" indent="0">
              <a:buNone/>
              <a:defRPr sz="1074"/>
            </a:lvl3pPr>
            <a:lvl4pPr marL="1227171" indent="0">
              <a:buNone/>
              <a:defRPr sz="895"/>
            </a:lvl4pPr>
            <a:lvl5pPr marL="1636227" indent="0">
              <a:buNone/>
              <a:defRPr sz="895"/>
            </a:lvl5pPr>
            <a:lvl6pPr marL="2045284" indent="0">
              <a:buNone/>
              <a:defRPr sz="895"/>
            </a:lvl6pPr>
            <a:lvl7pPr marL="2454341" indent="0">
              <a:buNone/>
              <a:defRPr sz="895"/>
            </a:lvl7pPr>
            <a:lvl8pPr marL="2863398" indent="0">
              <a:buNone/>
              <a:defRPr sz="895"/>
            </a:lvl8pPr>
            <a:lvl9pPr marL="3272455" indent="0">
              <a:buNone/>
              <a:defRPr sz="89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909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457200"/>
            <a:ext cx="3518021" cy="1600200"/>
          </a:xfrm>
        </p:spPr>
        <p:txBody>
          <a:bodyPr anchor="b"/>
          <a:lstStyle>
            <a:lvl1pPr>
              <a:defRPr sz="28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37199" y="987426"/>
            <a:ext cx="5522030" cy="4873625"/>
          </a:xfrm>
        </p:spPr>
        <p:txBody>
          <a:bodyPr anchor="t"/>
          <a:lstStyle>
            <a:lvl1pPr marL="0" indent="0">
              <a:buNone/>
              <a:defRPr sz="2863"/>
            </a:lvl1pPr>
            <a:lvl2pPr marL="409057" indent="0">
              <a:buNone/>
              <a:defRPr sz="2505"/>
            </a:lvl2pPr>
            <a:lvl3pPr marL="818114" indent="0">
              <a:buNone/>
              <a:defRPr sz="2147"/>
            </a:lvl3pPr>
            <a:lvl4pPr marL="1227171" indent="0">
              <a:buNone/>
              <a:defRPr sz="1789"/>
            </a:lvl4pPr>
            <a:lvl5pPr marL="1636227" indent="0">
              <a:buNone/>
              <a:defRPr sz="1789"/>
            </a:lvl5pPr>
            <a:lvl6pPr marL="2045284" indent="0">
              <a:buNone/>
              <a:defRPr sz="1789"/>
            </a:lvl6pPr>
            <a:lvl7pPr marL="2454341" indent="0">
              <a:buNone/>
              <a:defRPr sz="1789"/>
            </a:lvl7pPr>
            <a:lvl8pPr marL="2863398" indent="0">
              <a:buNone/>
              <a:defRPr sz="1789"/>
            </a:lvl8pPr>
            <a:lvl9pPr marL="3272455" indent="0">
              <a:buNone/>
              <a:defRPr sz="178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326" y="2057400"/>
            <a:ext cx="3518021" cy="3811588"/>
          </a:xfrm>
        </p:spPr>
        <p:txBody>
          <a:bodyPr/>
          <a:lstStyle>
            <a:lvl1pPr marL="0" indent="0">
              <a:buNone/>
              <a:defRPr sz="1432"/>
            </a:lvl1pPr>
            <a:lvl2pPr marL="409057" indent="0">
              <a:buNone/>
              <a:defRPr sz="1253"/>
            </a:lvl2pPr>
            <a:lvl3pPr marL="818114" indent="0">
              <a:buNone/>
              <a:defRPr sz="1074"/>
            </a:lvl3pPr>
            <a:lvl4pPr marL="1227171" indent="0">
              <a:buNone/>
              <a:defRPr sz="895"/>
            </a:lvl4pPr>
            <a:lvl5pPr marL="1636227" indent="0">
              <a:buNone/>
              <a:defRPr sz="895"/>
            </a:lvl5pPr>
            <a:lvl6pPr marL="2045284" indent="0">
              <a:buNone/>
              <a:defRPr sz="895"/>
            </a:lvl6pPr>
            <a:lvl7pPr marL="2454341" indent="0">
              <a:buNone/>
              <a:defRPr sz="895"/>
            </a:lvl7pPr>
            <a:lvl8pPr marL="2863398" indent="0">
              <a:buNone/>
              <a:defRPr sz="895"/>
            </a:lvl8pPr>
            <a:lvl9pPr marL="3272455" indent="0">
              <a:buNone/>
              <a:defRPr sz="89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247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321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5832" y="365125"/>
            <a:ext cx="2351976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9905" y="365125"/>
            <a:ext cx="691958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198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9906" y="365126"/>
            <a:ext cx="94079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06" y="1825625"/>
            <a:ext cx="94079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9905" y="6356351"/>
            <a:ext cx="24542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5A442-F130-D547-AE06-93CCDA9F017C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13180" y="6356351"/>
            <a:ext cx="3681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3573" y="6356351"/>
            <a:ext cx="24542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3AF36-7209-4B48-950F-3953E9229F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83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8114" rtl="0" eaLnBrk="1" latinLnBrk="1" hangingPunct="1">
        <a:lnSpc>
          <a:spcPct val="90000"/>
        </a:lnSpc>
        <a:spcBef>
          <a:spcPct val="0"/>
        </a:spcBef>
        <a:buNone/>
        <a:defRPr sz="39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528" indent="-204528" algn="l" defTabSz="818114" rtl="0" eaLnBrk="1" latinLnBrk="1" hangingPunct="1">
        <a:lnSpc>
          <a:spcPct val="90000"/>
        </a:lnSpc>
        <a:spcBef>
          <a:spcPts val="895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1pPr>
      <a:lvl2pPr marL="613585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2pPr>
      <a:lvl3pPr marL="1022642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789" kern="1200">
          <a:solidFill>
            <a:schemeClr val="tx1"/>
          </a:solidFill>
          <a:latin typeface="+mn-lt"/>
          <a:ea typeface="+mn-ea"/>
          <a:cs typeface="+mn-cs"/>
        </a:defRPr>
      </a:lvl3pPr>
      <a:lvl4pPr marL="1431699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4pPr>
      <a:lvl5pPr marL="1840756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5pPr>
      <a:lvl6pPr marL="2249813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6pPr>
      <a:lvl7pPr marL="2658869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7pPr>
      <a:lvl8pPr marL="3067926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8pPr>
      <a:lvl9pPr marL="3476983" indent="-204528" algn="l" defTabSz="818114" rtl="0" eaLnBrk="1" latinLnBrk="1" hangingPunct="1">
        <a:lnSpc>
          <a:spcPct val="90000"/>
        </a:lnSpc>
        <a:spcBef>
          <a:spcPts val="447"/>
        </a:spcBef>
        <a:buFont typeface="Arial" panose="020B0604020202020204" pitchFamily="34" charset="0"/>
        <a:buChar char="•"/>
        <a:defRPr sz="16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1pPr>
      <a:lvl2pPr marL="409057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2pPr>
      <a:lvl3pPr marL="818114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3pPr>
      <a:lvl4pPr marL="1227171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4pPr>
      <a:lvl5pPr marL="1636227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5pPr>
      <a:lvl6pPr marL="2045284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6pPr>
      <a:lvl7pPr marL="2454341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7pPr>
      <a:lvl8pPr marL="2863398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8pPr>
      <a:lvl9pPr marL="3272455" algn="l" defTabSz="818114" rtl="0" eaLnBrk="1" latinLnBrk="1" hangingPunct="1">
        <a:defRPr sz="16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A0E48E1-DC64-76B2-D7D4-4015ADF189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907713" cy="6858000"/>
          </a:xfrm>
          <a:prstGeom prst="rect">
            <a:avLst/>
          </a:prstGeom>
          <a:solidFill>
            <a:srgbClr val="4BA8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63A44-A9B0-4B3E-A8C6-1F8520B2EA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74720" y="-753036"/>
            <a:ext cx="7079182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5000" dirty="0">
                <a:solidFill>
                  <a:schemeClr val="bg1">
                    <a:alpha val="62000"/>
                  </a:schemeClr>
                </a:solidFill>
                <a:latin typeface="Harmony B" panose="02000A00000000000000" pitchFamily="2" charset="-127"/>
                <a:ea typeface="Harmony B" panose="02000A00000000000000" pitchFamily="2" charset="-127"/>
              </a:rPr>
              <a:t>E</a:t>
            </a:r>
            <a:endParaRPr kumimoji="1" lang="ko-KR" altLang="en-US" sz="75000" dirty="0">
              <a:solidFill>
                <a:schemeClr val="bg1">
                  <a:alpha val="62000"/>
                </a:schemeClr>
              </a:solidFill>
              <a:latin typeface="Harmony B" panose="02000A00000000000000" pitchFamily="2" charset="-127"/>
              <a:ea typeface="Harmony B" panose="02000A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3FF03-BB09-AAA8-9B02-C2CD7AF522C8}"/>
              </a:ext>
            </a:extLst>
          </p:cNvPr>
          <p:cNvSpPr txBox="1"/>
          <p:nvPr/>
        </p:nvSpPr>
        <p:spPr>
          <a:xfrm>
            <a:off x="481888" y="457251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하이트진로 </a:t>
            </a: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E-Order App</a:t>
            </a:r>
            <a:b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UI/UX Proposal</a:t>
            </a:r>
            <a:endParaRPr kumimoji="1" lang="ko-KR" altLang="en-US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F5040-BE4C-93B7-396A-D1374B8C4B5C}"/>
              </a:ext>
            </a:extLst>
          </p:cNvPr>
          <p:cNvSpPr txBox="1"/>
          <p:nvPr/>
        </p:nvSpPr>
        <p:spPr>
          <a:xfrm>
            <a:off x="481888" y="1379564"/>
            <a:ext cx="40719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E-Order App</a:t>
            </a:r>
            <a:r>
              <a:rPr kumimoji="1" lang="ko-KR" altLang="en-US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 </a:t>
            </a:r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01/02/03</a:t>
            </a:r>
            <a:endParaRPr kumimoji="1" lang="ko-KR" altLang="en-US" sz="2600" b="1" dirty="0">
              <a:solidFill>
                <a:schemeClr val="bg1">
                  <a:alpha val="80000"/>
                </a:schemeClr>
              </a:solidFill>
              <a:latin typeface="RixSejongroGulim_Pro Black" panose="02000A03000000000000" pitchFamily="2" charset="-128"/>
              <a:ea typeface="RixSejongroGulim_Pro Black" panose="02000A03000000000000" pitchFamily="2" charset="-128"/>
              <a:cs typeface="PHOSPHATE SOLID" panose="0200050605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7244A-9D98-5DEE-215D-A4261DB51CBD}"/>
              </a:ext>
            </a:extLst>
          </p:cNvPr>
          <p:cNvSpPr txBox="1"/>
          <p:nvPr/>
        </p:nvSpPr>
        <p:spPr>
          <a:xfrm>
            <a:off x="481888" y="1872007"/>
            <a:ext cx="14686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40~60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대 사용자 중심 </a:t>
            </a:r>
            <a:r>
              <a:rPr lang="en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UX</a:t>
            </a:r>
          </a:p>
          <a:p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높은 가독성 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/ 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낮은 시각 피로도</a:t>
            </a:r>
          </a:p>
          <a:p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주문 프로세스 단순화</a:t>
            </a:r>
          </a:p>
          <a:p>
            <a:endParaRPr lang="en-US" altLang="ko-KR" sz="8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신뢰형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(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파랑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) </a:t>
            </a:r>
          </a:p>
          <a:p>
            <a:pPr marL="228600" indent="-228600">
              <a:buAutoNum type="arabicPeriod"/>
            </a:pP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친화형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(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초록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) </a:t>
            </a:r>
          </a:p>
          <a:p>
            <a:pPr marL="228600" indent="-228600">
              <a:buAutoNum type="arabicPeriod"/>
            </a:pP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브랜딩형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(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보라</a:t>
            </a:r>
            <a:r>
              <a:rPr lang="en-US" altLang="ko-KR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) </a:t>
            </a:r>
            <a:r>
              <a:rPr lang="ko-KR" altLang="en-US" sz="8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중 선택”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3C7E9F-3DEE-3BAB-264F-39408A5117EA}"/>
              </a:ext>
            </a:extLst>
          </p:cNvPr>
          <p:cNvSpPr txBox="1"/>
          <p:nvPr/>
        </p:nvSpPr>
        <p:spPr>
          <a:xfrm>
            <a:off x="476700" y="3883466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b="1" dirty="0">
                <a:solidFill>
                  <a:schemeClr val="bg1">
                    <a:alpha val="80000"/>
                  </a:schemeClr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서비스 성격</a:t>
            </a:r>
            <a:endParaRPr lang="ko-KR" altLang="ko-KR" sz="800" b="1" dirty="0">
              <a:solidFill>
                <a:schemeClr val="bg1">
                  <a:alpha val="80000"/>
                </a:schemeClr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9AD17-EFE3-B7E6-83CF-1942C5256955}"/>
              </a:ext>
            </a:extLst>
          </p:cNvPr>
          <p:cNvSpPr txBox="1"/>
          <p:nvPr/>
        </p:nvSpPr>
        <p:spPr>
          <a:xfrm>
            <a:off x="476700" y="4571549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b="1" dirty="0">
                <a:solidFill>
                  <a:schemeClr val="bg1">
                    <a:alpha val="80000"/>
                  </a:schemeClr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타겟 사용자</a:t>
            </a:r>
            <a:endParaRPr lang="ko-KR" altLang="ko-KR" sz="800" b="1" dirty="0">
              <a:solidFill>
                <a:schemeClr val="bg1">
                  <a:alpha val="80000"/>
                </a:schemeClr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5E7D72-1C74-6E90-CDFC-93D4A203E772}"/>
              </a:ext>
            </a:extLst>
          </p:cNvPr>
          <p:cNvSpPr txBox="1"/>
          <p:nvPr/>
        </p:nvSpPr>
        <p:spPr>
          <a:xfrm>
            <a:off x="476700" y="4073036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서비스 성격</a:t>
            </a:r>
            <a:endParaRPr lang="ko-KR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E1F9F0-61BE-EABE-8FA0-FFDCD69E6F13}"/>
              </a:ext>
            </a:extLst>
          </p:cNvPr>
          <p:cNvSpPr txBox="1"/>
          <p:nvPr/>
        </p:nvSpPr>
        <p:spPr>
          <a:xfrm>
            <a:off x="476700" y="4761119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타겟 사용자</a:t>
            </a:r>
            <a:endParaRPr lang="ko-KR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217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6B3CC-50F7-B4F0-A7A1-54B274BB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339509-6637-3619-77BD-0D25ABBF3E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9077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4976A-C59C-4BC4-25C2-5C60A3B972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74720" y="-753036"/>
            <a:ext cx="7079182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5000" dirty="0">
                <a:solidFill>
                  <a:schemeClr val="bg1">
                    <a:alpha val="62000"/>
                  </a:schemeClr>
                </a:solidFill>
                <a:latin typeface="Harmony B" panose="02000A00000000000000" pitchFamily="2" charset="-127"/>
                <a:ea typeface="Harmony B" panose="02000A00000000000000" pitchFamily="2" charset="-127"/>
              </a:rPr>
              <a:t>E</a:t>
            </a:r>
            <a:endParaRPr kumimoji="1" lang="ko-KR" altLang="en-US" sz="75000" dirty="0">
              <a:solidFill>
                <a:schemeClr val="bg1">
                  <a:alpha val="62000"/>
                </a:schemeClr>
              </a:solidFill>
              <a:latin typeface="Harmony B" panose="02000A00000000000000" pitchFamily="2" charset="-127"/>
              <a:ea typeface="Harmony B" panose="02000A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C6455-5873-8968-0016-0BAC2B9BD731}"/>
              </a:ext>
            </a:extLst>
          </p:cNvPr>
          <p:cNvSpPr txBox="1"/>
          <p:nvPr/>
        </p:nvSpPr>
        <p:spPr>
          <a:xfrm>
            <a:off x="481888" y="457251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하이트진로 </a:t>
            </a: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E-Order App</a:t>
            </a:r>
            <a:b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UI/UX Proposal</a:t>
            </a:r>
            <a:endParaRPr kumimoji="1" lang="ko-KR" altLang="en-US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BAE4B-BB89-9AB7-C621-C2CB2394CDEE}"/>
              </a:ext>
            </a:extLst>
          </p:cNvPr>
          <p:cNvSpPr txBox="1"/>
          <p:nvPr/>
        </p:nvSpPr>
        <p:spPr>
          <a:xfrm>
            <a:off x="481888" y="1379564"/>
            <a:ext cx="301717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E-Order App</a:t>
            </a:r>
            <a:r>
              <a:rPr kumimoji="1" lang="ko-KR" altLang="en-US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 </a:t>
            </a:r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01.</a:t>
            </a:r>
            <a:endParaRPr kumimoji="1" lang="ko-KR" altLang="en-US" sz="2600" b="1" dirty="0">
              <a:solidFill>
                <a:schemeClr val="bg1">
                  <a:alpha val="80000"/>
                </a:schemeClr>
              </a:solidFill>
              <a:latin typeface="RixSejongroGulim_Pro Black" panose="02000A03000000000000" pitchFamily="2" charset="-128"/>
              <a:ea typeface="RixSejongroGulim_Pro Black" panose="02000A03000000000000" pitchFamily="2" charset="-128"/>
              <a:cs typeface="PHOSPHATE SOLID" panose="0200050605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97CAD-6FE8-3E0C-07A4-ACB82CDDD578}"/>
              </a:ext>
            </a:extLst>
          </p:cNvPr>
          <p:cNvSpPr txBox="1"/>
          <p:nvPr/>
        </p:nvSpPr>
        <p:spPr>
          <a:xfrm>
            <a:off x="481888" y="1872007"/>
            <a:ext cx="25026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자연을 연상시키는 안정적인 컬러 톤을 기반으로, </a:t>
            </a:r>
            <a:endParaRPr lang="en-US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시각적 피로도를 낮추고 편안한 사용 경험을 제</a:t>
            </a: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안합니다</a:t>
            </a:r>
            <a:r>
              <a:rPr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신뢰감과 친숙함을 동시에 전달하여 반복 사용이 많은</a:t>
            </a:r>
            <a:endParaRPr lang="en-US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주문 서비스 환경에 적합한 UI 분위기를 형성한다.</a:t>
            </a:r>
          </a:p>
        </p:txBody>
      </p:sp>
      <p:pic>
        <p:nvPicPr>
          <p:cNvPr id="15" name="그림 14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488C98-044F-62A1-729C-CC1B37D0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84" y="1747025"/>
            <a:ext cx="2347517" cy="4603914"/>
          </a:xfrm>
          <a:prstGeom prst="rect">
            <a:avLst/>
          </a:prstGeom>
        </p:spPr>
      </p:pic>
      <p:pic>
        <p:nvPicPr>
          <p:cNvPr id="16" name="그림 15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9E5F6B-74B2-DD73-30E0-F4C0FF148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820" y="1747024"/>
            <a:ext cx="2347517" cy="46039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3B328DB-385A-4D15-7CAE-8D3648D3C8D4}"/>
              </a:ext>
            </a:extLst>
          </p:cNvPr>
          <p:cNvSpPr txBox="1"/>
          <p:nvPr/>
        </p:nvSpPr>
        <p:spPr>
          <a:xfrm>
            <a:off x="476700" y="3883466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b="1" dirty="0">
                <a:solidFill>
                  <a:schemeClr val="bg1">
                    <a:alpha val="80000"/>
                  </a:schemeClr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서비스 성격</a:t>
            </a:r>
            <a:endParaRPr lang="ko-KR" altLang="ko-KR" sz="800" b="1" dirty="0">
              <a:solidFill>
                <a:schemeClr val="bg1">
                  <a:alpha val="80000"/>
                </a:schemeClr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CEC833-75D8-35D9-0A23-3EFB66E7B8EB}"/>
              </a:ext>
            </a:extLst>
          </p:cNvPr>
          <p:cNvSpPr txBox="1"/>
          <p:nvPr/>
        </p:nvSpPr>
        <p:spPr>
          <a:xfrm>
            <a:off x="476700" y="4571549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b="1" dirty="0">
                <a:solidFill>
                  <a:schemeClr val="bg1">
                    <a:alpha val="80000"/>
                  </a:schemeClr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타겟 사용자</a:t>
            </a:r>
            <a:endParaRPr lang="ko-KR" altLang="ko-KR" sz="800" b="1" dirty="0">
              <a:solidFill>
                <a:schemeClr val="bg1">
                  <a:alpha val="80000"/>
                </a:schemeClr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867D30-3129-5050-3F4E-F1E160C19681}"/>
              </a:ext>
            </a:extLst>
          </p:cNvPr>
          <p:cNvSpPr txBox="1"/>
          <p:nvPr/>
        </p:nvSpPr>
        <p:spPr>
          <a:xfrm>
            <a:off x="476700" y="4073036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서비스 성격</a:t>
            </a:r>
            <a:endParaRPr lang="ko-KR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1D582-12BD-4206-0A37-7A1A31CE9600}"/>
              </a:ext>
            </a:extLst>
          </p:cNvPr>
          <p:cNvSpPr txBox="1"/>
          <p:nvPr/>
        </p:nvSpPr>
        <p:spPr>
          <a:xfrm>
            <a:off x="476700" y="4761119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타겟 사용자</a:t>
            </a:r>
            <a:endParaRPr lang="ko-KR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2" name="그림 1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C0A2C4-6DE7-18A3-9303-CEE9B3908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579" y="1747024"/>
            <a:ext cx="2347517" cy="46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5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97993-C5B4-04B6-C20F-5DDB56ED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AD880C3-C67F-E31D-EC7E-CB6B82774F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907713" cy="6858000"/>
          </a:xfrm>
          <a:prstGeom prst="rect">
            <a:avLst/>
          </a:prstGeom>
          <a:solidFill>
            <a:srgbClr val="2D9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FE315-AB11-EBCE-0A53-9178A00094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74720" y="-753036"/>
            <a:ext cx="7079182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5000" dirty="0">
                <a:solidFill>
                  <a:schemeClr val="bg1">
                    <a:alpha val="62000"/>
                  </a:schemeClr>
                </a:solidFill>
                <a:latin typeface="Harmony B" panose="02000A00000000000000" pitchFamily="2" charset="-127"/>
                <a:ea typeface="Harmony B" panose="02000A00000000000000" pitchFamily="2" charset="-127"/>
              </a:rPr>
              <a:t>E</a:t>
            </a:r>
            <a:endParaRPr kumimoji="1" lang="ko-KR" altLang="en-US" sz="75000" dirty="0">
              <a:solidFill>
                <a:schemeClr val="bg1">
                  <a:alpha val="62000"/>
                </a:schemeClr>
              </a:solidFill>
              <a:latin typeface="Harmony B" panose="02000A00000000000000" pitchFamily="2" charset="-127"/>
              <a:ea typeface="Harmony B" panose="02000A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D45A9-7CED-9A40-4926-7E22F8FC15C3}"/>
              </a:ext>
            </a:extLst>
          </p:cNvPr>
          <p:cNvSpPr txBox="1"/>
          <p:nvPr/>
        </p:nvSpPr>
        <p:spPr>
          <a:xfrm>
            <a:off x="481888" y="457251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하이트진로 </a:t>
            </a: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E-Order App</a:t>
            </a:r>
            <a:b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UI/UX Proposal</a:t>
            </a:r>
            <a:endParaRPr kumimoji="1" lang="ko-KR" altLang="en-US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4B079-C0D0-147A-48BB-4B62E87C72C3}"/>
              </a:ext>
            </a:extLst>
          </p:cNvPr>
          <p:cNvSpPr txBox="1"/>
          <p:nvPr/>
        </p:nvSpPr>
        <p:spPr>
          <a:xfrm>
            <a:off x="481888" y="1379564"/>
            <a:ext cx="301717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E-Order App</a:t>
            </a:r>
            <a:r>
              <a:rPr kumimoji="1" lang="ko-KR" altLang="en-US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 </a:t>
            </a:r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02.</a:t>
            </a:r>
            <a:endParaRPr kumimoji="1" lang="ko-KR" altLang="en-US" sz="2600" b="1" dirty="0">
              <a:solidFill>
                <a:schemeClr val="bg1">
                  <a:alpha val="80000"/>
                </a:schemeClr>
              </a:solidFill>
              <a:latin typeface="RixSejongroGulim_Pro Black" panose="02000A03000000000000" pitchFamily="2" charset="-128"/>
              <a:ea typeface="RixSejongroGulim_Pro Black" panose="02000A03000000000000" pitchFamily="2" charset="-128"/>
              <a:cs typeface="PHOSPHATE SOLID" panose="0200050605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18E37-3886-E8EA-307A-F5F53B4E5FEA}"/>
              </a:ext>
            </a:extLst>
          </p:cNvPr>
          <p:cNvSpPr txBox="1"/>
          <p:nvPr/>
        </p:nvSpPr>
        <p:spPr>
          <a:xfrm>
            <a:off x="481888" y="1872007"/>
            <a:ext cx="3204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정돈되고 </a:t>
            </a:r>
            <a:r>
              <a:rPr lang="ko-KR" altLang="en-US" sz="800" dirty="0" err="1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균형감</a:t>
            </a: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 있는 인상을 중심으로 정보의 가독성과 </a:t>
            </a:r>
            <a:endParaRPr lang="en-US" altLang="ko-KR" sz="800" dirty="0">
              <a:solidFill>
                <a:schemeClr val="bg1">
                  <a:alpha val="80000"/>
                </a:schemeClr>
              </a:solidFill>
              <a:effectLst/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>
              <a:buNone/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서비스 신뢰도를 강화하는 방향으로 구성하였다</a:t>
            </a:r>
            <a:r>
              <a:rPr lang="en-US" altLang="ko-KR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</a:p>
          <a:p>
            <a:pPr>
              <a:buNone/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차분하고 안정적인 컬러 특성을 활용하여 사용자가 주문 과정을 명확하고 </a:t>
            </a:r>
            <a:endParaRPr lang="en-US" altLang="ko-KR" sz="800" dirty="0">
              <a:solidFill>
                <a:schemeClr val="bg1">
                  <a:alpha val="80000"/>
                </a:schemeClr>
              </a:solidFill>
              <a:effectLst/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>
              <a:buNone/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편안하게 인지할 수 있도록 설계하였다</a:t>
            </a:r>
            <a:r>
              <a:rPr lang="en-US" altLang="ko-KR" sz="800" dirty="0">
                <a:solidFill>
                  <a:schemeClr val="bg1">
                    <a:alpha val="80000"/>
                  </a:schemeClr>
                </a:solidFill>
                <a:effectLst/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  <a:endParaRPr lang="ko-KR" altLang="en-US" sz="800" dirty="0">
              <a:solidFill>
                <a:schemeClr val="bg1">
                  <a:alpha val="80000"/>
                </a:schemeClr>
              </a:solidFill>
              <a:effectLst/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15" name="그림 14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D11031-6052-314A-4569-4325058C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058" y="1747025"/>
            <a:ext cx="2347517" cy="4603914"/>
          </a:xfrm>
          <a:prstGeom prst="rect">
            <a:avLst/>
          </a:prstGeom>
        </p:spPr>
      </p:pic>
      <p:pic>
        <p:nvPicPr>
          <p:cNvPr id="16" name="그림 15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AA670F-C15D-C890-3DF5-4E44038E2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94" y="1747024"/>
            <a:ext cx="2347517" cy="46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4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4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7B576-F134-D6E9-5BDB-7F81230B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F8D71DB-A6E0-66C2-0A6D-8B3B1D2320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907713" cy="6858000"/>
          </a:xfrm>
          <a:prstGeom prst="rect">
            <a:avLst/>
          </a:prstGeom>
          <a:solidFill>
            <a:srgbClr val="744B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8C2E8-8057-90D9-6A39-6670D6EF2B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74720" y="-753036"/>
            <a:ext cx="7079182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5000" dirty="0">
                <a:solidFill>
                  <a:schemeClr val="bg1">
                    <a:alpha val="62000"/>
                  </a:schemeClr>
                </a:solidFill>
                <a:latin typeface="Harmony B" panose="02000A00000000000000" pitchFamily="2" charset="-127"/>
                <a:ea typeface="Harmony B" panose="02000A00000000000000" pitchFamily="2" charset="-127"/>
              </a:rPr>
              <a:t>E</a:t>
            </a:r>
            <a:endParaRPr kumimoji="1" lang="ko-KR" altLang="en-US" sz="75000" dirty="0">
              <a:solidFill>
                <a:schemeClr val="bg1">
                  <a:alpha val="62000"/>
                </a:schemeClr>
              </a:solidFill>
              <a:latin typeface="Harmony B" panose="02000A00000000000000" pitchFamily="2" charset="-127"/>
              <a:ea typeface="Harmony B" panose="02000A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66F7C-D4BE-4D32-68C6-6266C4C24B34}"/>
              </a:ext>
            </a:extLst>
          </p:cNvPr>
          <p:cNvSpPr txBox="1"/>
          <p:nvPr/>
        </p:nvSpPr>
        <p:spPr>
          <a:xfrm>
            <a:off x="481888" y="457251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하이트진로 </a:t>
            </a: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E-Order App</a:t>
            </a:r>
            <a:b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kumimoji="1"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UI/UX Proposal</a:t>
            </a:r>
            <a:endParaRPr kumimoji="1" lang="ko-KR" altLang="en-US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4583C-094B-1C5D-E70C-26A377BA9416}"/>
              </a:ext>
            </a:extLst>
          </p:cNvPr>
          <p:cNvSpPr txBox="1"/>
          <p:nvPr/>
        </p:nvSpPr>
        <p:spPr>
          <a:xfrm>
            <a:off x="481888" y="1379564"/>
            <a:ext cx="301717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E-Order App</a:t>
            </a:r>
            <a:r>
              <a:rPr kumimoji="1" lang="ko-KR" altLang="en-US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 </a:t>
            </a:r>
            <a:r>
              <a:rPr kumimoji="1" lang="en-US" altLang="ko-KR" sz="2600" b="1" dirty="0">
                <a:solidFill>
                  <a:schemeClr val="bg1">
                    <a:alpha val="80000"/>
                  </a:schemeClr>
                </a:solidFill>
                <a:latin typeface="RixSejongroGulim_Pro Black" panose="02000A03000000000000" pitchFamily="2" charset="-128"/>
                <a:ea typeface="RixSejongroGulim_Pro Black" panose="02000A03000000000000" pitchFamily="2" charset="-128"/>
                <a:cs typeface="PHOSPHATE SOLID" panose="02000506050000020004" pitchFamily="2" charset="0"/>
              </a:rPr>
              <a:t>03.</a:t>
            </a:r>
            <a:endParaRPr kumimoji="1" lang="ko-KR" altLang="en-US" sz="2600" b="1" dirty="0">
              <a:solidFill>
                <a:schemeClr val="bg1">
                  <a:alpha val="80000"/>
                </a:schemeClr>
              </a:solidFill>
              <a:latin typeface="RixSejongroGulim_Pro Black" panose="02000A03000000000000" pitchFamily="2" charset="-128"/>
              <a:ea typeface="RixSejongroGulim_Pro Black" panose="02000A03000000000000" pitchFamily="2" charset="-128"/>
              <a:cs typeface="PHOSPHATE SOLID" panose="0200050605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DFF42-A89D-133D-9CDD-0C1C11EECDC1}"/>
              </a:ext>
            </a:extLst>
          </p:cNvPr>
          <p:cNvSpPr txBox="1"/>
          <p:nvPr/>
        </p:nvSpPr>
        <p:spPr>
          <a:xfrm>
            <a:off x="481888" y="1872007"/>
            <a:ext cx="3813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세련되고 차별화된 인상을 기반으로 브랜드의 고급스러움과 </a:t>
            </a:r>
            <a:endParaRPr lang="en-US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감각적인 이미지를 강조하는 방향으로 구성하였다</a:t>
            </a:r>
            <a:r>
              <a:rPr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안정적인 톤 안에서 프리미엄 무드를 더하여 서비스의 독자성과 경험적 가치를 강화한다</a:t>
            </a:r>
            <a:r>
              <a:rPr lang="en-US" altLang="ko-KR" sz="800" dirty="0">
                <a:solidFill>
                  <a:schemeClr val="bg1">
                    <a:alpha val="8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  <a:endParaRPr lang="ko-KR" altLang="en-US" sz="800" dirty="0">
              <a:solidFill>
                <a:schemeClr val="bg1">
                  <a:alpha val="80000"/>
                </a:schemeClr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15" name="그림 14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458CA6-A98D-07FA-2D33-7DD349AB2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058" y="1747025"/>
            <a:ext cx="2347517" cy="4603914"/>
          </a:xfrm>
          <a:prstGeom prst="rect">
            <a:avLst/>
          </a:prstGeom>
        </p:spPr>
      </p:pic>
      <p:pic>
        <p:nvPicPr>
          <p:cNvPr id="16" name="그림 15" descr="휴대 전화, 스크린샷, 정보기기,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A07FCA-5C04-05B5-CB5A-984D15C6F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94" y="1747024"/>
            <a:ext cx="2347517" cy="46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4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178</Words>
  <Application>Microsoft Macintosh PowerPoint</Application>
  <PresentationFormat>사용자 지정</PresentationFormat>
  <Paragraphs>40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Harmony B</vt:lpstr>
      <vt:lpstr>NanumSquareOTF</vt:lpstr>
      <vt:lpstr>NanumSquareOTF ExtraBold</vt:lpstr>
      <vt:lpstr>RixSejongroGulim_Pro Black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 서우</dc:creator>
  <cp:lastModifiedBy>백 서우</cp:lastModifiedBy>
  <cp:revision>5</cp:revision>
  <dcterms:created xsi:type="dcterms:W3CDTF">2026-06-16T01:19:54Z</dcterms:created>
  <dcterms:modified xsi:type="dcterms:W3CDTF">2026-06-16T09:32:09Z</dcterms:modified>
</cp:coreProperties>
</file>